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sldIdLst>
    <p:sldId id="256" r:id="rId2"/>
    <p:sldId id="257" r:id="rId3"/>
    <p:sldId id="390" r:id="rId4"/>
    <p:sldId id="368" r:id="rId5"/>
    <p:sldId id="369" r:id="rId6"/>
    <p:sldId id="370" r:id="rId7"/>
    <p:sldId id="372" r:id="rId8"/>
    <p:sldId id="374" r:id="rId9"/>
    <p:sldId id="382" r:id="rId10"/>
    <p:sldId id="383" r:id="rId11"/>
    <p:sldId id="385" r:id="rId12"/>
    <p:sldId id="387" r:id="rId13"/>
    <p:sldId id="389" r:id="rId14"/>
    <p:sldId id="3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Zeroth Review</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Zeroth Review</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Zeroth Review</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Zeroth Review</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804030504040204" pitchFamily="34" charset="0"/>
        </a:defRPr>
      </a:lvl2pPr>
      <a:lvl3pPr algn="l" rtl="0" eaLnBrk="0" fontAlgn="base" hangingPunct="0">
        <a:spcBef>
          <a:spcPct val="0"/>
        </a:spcBef>
        <a:spcAft>
          <a:spcPct val="0"/>
        </a:spcAft>
        <a:defRPr sz="3800">
          <a:solidFill>
            <a:schemeClr val="tx2"/>
          </a:solidFill>
          <a:latin typeface="Verdana" panose="020B0804030504040204" pitchFamily="34" charset="0"/>
        </a:defRPr>
      </a:lvl3pPr>
      <a:lvl4pPr algn="l" rtl="0" eaLnBrk="0" fontAlgn="base" hangingPunct="0">
        <a:spcBef>
          <a:spcPct val="0"/>
        </a:spcBef>
        <a:spcAft>
          <a:spcPct val="0"/>
        </a:spcAft>
        <a:defRPr sz="3800">
          <a:solidFill>
            <a:schemeClr val="tx2"/>
          </a:solidFill>
          <a:latin typeface="Verdana" panose="020B0804030504040204" pitchFamily="34" charset="0"/>
        </a:defRPr>
      </a:lvl4pPr>
      <a:lvl5pPr algn="l" rtl="0" eaLnBrk="0" fontAlgn="base" hangingPunct="0">
        <a:spcBef>
          <a:spcPct val="0"/>
        </a:spcBef>
        <a:spcAft>
          <a:spcPct val="0"/>
        </a:spcAft>
        <a:defRPr sz="3800">
          <a:solidFill>
            <a:schemeClr val="tx2"/>
          </a:solidFill>
          <a:latin typeface="Verdana" panose="020B0804030504040204" pitchFamily="34" charset="0"/>
        </a:defRPr>
      </a:lvl5pPr>
      <a:lvl6pPr marL="457200" algn="l" rtl="0" fontAlgn="base">
        <a:spcBef>
          <a:spcPct val="0"/>
        </a:spcBef>
        <a:spcAft>
          <a:spcPct val="0"/>
        </a:spcAft>
        <a:defRPr sz="3800">
          <a:solidFill>
            <a:schemeClr val="tx2"/>
          </a:solidFill>
          <a:latin typeface="Verdana" panose="020B0804030504040204" pitchFamily="34" charset="0"/>
        </a:defRPr>
      </a:lvl6pPr>
      <a:lvl7pPr marL="914400" algn="l" rtl="0" fontAlgn="base">
        <a:spcBef>
          <a:spcPct val="0"/>
        </a:spcBef>
        <a:spcAft>
          <a:spcPct val="0"/>
        </a:spcAft>
        <a:defRPr sz="3800">
          <a:solidFill>
            <a:schemeClr val="tx2"/>
          </a:solidFill>
          <a:latin typeface="Verdana" panose="020B0804030504040204" pitchFamily="34" charset="0"/>
        </a:defRPr>
      </a:lvl7pPr>
      <a:lvl8pPr marL="1371600" algn="l" rtl="0" fontAlgn="base">
        <a:spcBef>
          <a:spcPct val="0"/>
        </a:spcBef>
        <a:spcAft>
          <a:spcPct val="0"/>
        </a:spcAft>
        <a:defRPr sz="3800">
          <a:solidFill>
            <a:schemeClr val="tx2"/>
          </a:solidFill>
          <a:latin typeface="Verdana" panose="020B0804030504040204" pitchFamily="34" charset="0"/>
        </a:defRPr>
      </a:lvl8pPr>
      <a:lvl9pPr marL="1828800" algn="l" rtl="0" fontAlgn="base">
        <a:spcBef>
          <a:spcPct val="0"/>
        </a:spcBef>
        <a:spcAft>
          <a:spcPct val="0"/>
        </a:spcAft>
        <a:defRPr sz="3800">
          <a:solidFill>
            <a:schemeClr val="tx2"/>
          </a:solidFill>
          <a:latin typeface="Verdana" panose="020B08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bing.com/ck/a?!&amp;&amp;p=44ee968a371d9f006f406390440ff228af79b8419e14c9b1a18f31c7694adaa2JmltdHM9MTc2NDExNTIwMA&amp;ptn=3&amp;ver=2&amp;hsh=4&amp;fclid=15bf0c86-8978-6d89-3280-1a8a88076cef&amp;psq=abs+plastic+for+3d+printers&amp;u=a1aHR0cHM6Ly9iYW1idWxhYi5jb20vZW4tdXMvZmlsYW1lbnQvYWJz&amp;ntb=1"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p:cNvSpPr txBox="1"/>
          <p:nvPr/>
        </p:nvSpPr>
        <p:spPr>
          <a:xfrm>
            <a:off x="800100" y="1945406"/>
            <a:ext cx="11188700" cy="247777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3000" b="1" dirty="0">
                <a:solidFill>
                  <a:srgbClr val="7030A0"/>
                </a:solidFill>
                <a:latin typeface="Times New Roman" panose="02020603050405020304" pitchFamily="18" charset="0"/>
                <a:ea typeface="+mn-ea"/>
                <a:cs typeface="Times New Roman" panose="02020603050405020304" pitchFamily="18" charset="0"/>
              </a:rPr>
              <a:t>Kanmani AI – A Wearable AI Assistant for the Visually Impaired</a:t>
            </a:r>
          </a:p>
        </p:txBody>
      </p:sp>
      <p:sp>
        <p:nvSpPr>
          <p:cNvPr id="10" name="TextBox 1"/>
          <p:cNvSpPr txBox="1">
            <a:spLocks noChangeArrowheads="1"/>
          </p:cNvSpPr>
          <p:nvPr/>
        </p:nvSpPr>
        <p:spPr bwMode="auto">
          <a:xfrm>
            <a:off x="151765" y="4770755"/>
            <a:ext cx="6155055"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9pPr>
          </a:lstStyle>
          <a:p>
            <a:pPr>
              <a:spcBef>
                <a:spcPct val="0"/>
              </a:spcBef>
              <a:buClrTx/>
              <a:buFontTx/>
              <a:buNone/>
            </a:pPr>
            <a:r>
              <a:rPr lang="en-US" altLang="en-US" sz="2600" b="1" dirty="0">
                <a:solidFill>
                  <a:srgbClr val="FF0000"/>
                </a:solidFill>
                <a:latin typeface="Times New Roman" panose="02020603050405020304" pitchFamily="18" charset="0"/>
                <a:cs typeface="Times New Roman" panose="02020603050405020304" pitchFamily="18" charset="0"/>
              </a:rPr>
              <a:t>Dr. J. M. GNANASEKAR M.E., Ph.D.,</a:t>
            </a:r>
          </a:p>
          <a:p>
            <a:pPr>
              <a:spcBef>
                <a:spcPct val="0"/>
              </a:spcBef>
              <a:buClrTx/>
              <a:buFontTx/>
              <a:buNone/>
            </a:pPr>
            <a:r>
              <a:rPr lang="en-US" altLang="en-US" sz="2600" b="1" dirty="0">
                <a:solidFill>
                  <a:srgbClr val="FF0000"/>
                </a:solidFill>
                <a:latin typeface="Times New Roman" panose="02020603050405020304" pitchFamily="18" charset="0"/>
                <a:cs typeface="Times New Roman" panose="02020603050405020304" pitchFamily="18" charset="0"/>
              </a:rPr>
              <a:t>Professor and Head,</a:t>
            </a:r>
          </a:p>
          <a:p>
            <a:pPr>
              <a:spcBef>
                <a:spcPct val="0"/>
              </a:spcBef>
              <a:buClrTx/>
              <a:buFontTx/>
              <a:buNone/>
            </a:pPr>
            <a:r>
              <a:rPr lang="en-US" altLang="en-US" sz="2600" b="1" dirty="0">
                <a:solidFill>
                  <a:srgbClr val="FF0000"/>
                </a:solidFill>
                <a:latin typeface="Times New Roman" panose="02020603050405020304" pitchFamily="18" charset="0"/>
                <a:cs typeface="Times New Roman" panose="02020603050405020304" pitchFamily="18" charset="0"/>
              </a:rPr>
              <a:t>Department of Artificial Intelligence and Data Science</a:t>
            </a:r>
          </a:p>
          <a:p>
            <a:pPr>
              <a:spcBef>
                <a:spcPct val="0"/>
              </a:spcBef>
              <a:buClrTx/>
              <a:buFontTx/>
              <a:buNone/>
            </a:pPr>
            <a:endParaRPr lang="en-US" altLang="en-US" sz="2600" b="1" dirty="0">
              <a:solidFill>
                <a:srgbClr val="FF0000"/>
              </a:solidFill>
              <a:latin typeface="Times New Roman" panose="02020603050405020304" pitchFamily="18" charset="0"/>
              <a:cs typeface="Times New Roman" panose="02020603050405020304" pitchFamily="18" charset="0"/>
            </a:endParaRPr>
          </a:p>
        </p:txBody>
      </p:sp>
      <p:sp>
        <p:nvSpPr>
          <p:cNvPr id="11" name="TextBox 1"/>
          <p:cNvSpPr txBox="1">
            <a:spLocks noChangeArrowheads="1"/>
          </p:cNvSpPr>
          <p:nvPr/>
        </p:nvSpPr>
        <p:spPr bwMode="auto">
          <a:xfrm>
            <a:off x="6631305" y="4770755"/>
            <a:ext cx="5560695"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8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8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8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8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8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804030504040204" pitchFamily="34" charset="0"/>
              </a:defRPr>
            </a:lvl9pPr>
          </a:lstStyle>
          <a:p>
            <a:pPr>
              <a:spcBef>
                <a:spcPct val="0"/>
              </a:spcBef>
              <a:buClrTx/>
              <a:buFontTx/>
              <a:buNone/>
            </a:pPr>
            <a:r>
              <a:rPr lang="en-US" altLang="en-US" sz="2600" b="1" dirty="0">
                <a:solidFill>
                  <a:srgbClr val="FF0000"/>
                </a:solidFill>
                <a:latin typeface="Times New Roman" panose="02020603050405020304" pitchFamily="18" charset="0"/>
                <a:cs typeface="Times New Roman" panose="02020603050405020304" pitchFamily="18" charset="0"/>
              </a:rPr>
              <a:t>ARAVINTH S (2116221801003)</a:t>
            </a:r>
          </a:p>
          <a:p>
            <a:pPr>
              <a:spcBef>
                <a:spcPct val="0"/>
              </a:spcBef>
              <a:buClrTx/>
              <a:buFontTx/>
              <a:buNone/>
            </a:pPr>
            <a:r>
              <a:rPr lang="en-US" altLang="en-US" sz="2600" b="1" dirty="0">
                <a:solidFill>
                  <a:srgbClr val="FF0000"/>
                </a:solidFill>
                <a:latin typeface="Times New Roman" panose="02020603050405020304" pitchFamily="18" charset="0"/>
                <a:cs typeface="Times New Roman" panose="02020603050405020304" pitchFamily="18" charset="0"/>
              </a:rPr>
              <a:t>LIO GODWIN BR (2116221801029)</a:t>
            </a:r>
          </a:p>
          <a:p>
            <a:pPr>
              <a:spcBef>
                <a:spcPct val="0"/>
              </a:spcBef>
              <a:buClrTx/>
              <a:buFontTx/>
              <a:buNone/>
            </a:pPr>
            <a:r>
              <a:rPr lang="en-US" altLang="en-US" sz="2600" b="1" dirty="0">
                <a:solidFill>
                  <a:srgbClr val="FF0000"/>
                </a:solidFill>
                <a:latin typeface="Times New Roman" panose="02020603050405020304" pitchFamily="18" charset="0"/>
                <a:cs typeface="Times New Roman" panose="02020603050405020304" pitchFamily="18" charset="0"/>
              </a:rPr>
              <a:t>VENKATESHAN T (2116221801061)</a:t>
            </a:r>
          </a:p>
        </p:txBody>
      </p:sp>
      <p:sp>
        <p:nvSpPr>
          <p:cNvPr id="15" name="Title 1"/>
          <p:cNvSpPr txBox="1"/>
          <p:nvPr/>
        </p:nvSpPr>
        <p:spPr>
          <a:xfrm>
            <a:off x="708891" y="121313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804030504040204" pitchFamily="34" charset="0"/>
                <a:ea typeface="+mn-ea"/>
                <a:cs typeface="+mn-cs"/>
              </a:rPr>
              <a:t>Department of</a:t>
            </a:r>
            <a:r>
              <a:rPr lang="en-US" altLang="en-IN" sz="2800" b="1" dirty="0">
                <a:solidFill>
                  <a:srgbClr val="002060"/>
                </a:solidFill>
                <a:latin typeface="Verdana" panose="020B0804030504040204" pitchFamily="34" charset="0"/>
                <a:ea typeface="+mn-ea"/>
                <a:cs typeface="+mn-cs"/>
              </a:rPr>
              <a:t> Artificial Intelligence and Data Science</a:t>
            </a:r>
            <a:r>
              <a:rPr lang="en-IN" sz="2800" b="1" dirty="0">
                <a:solidFill>
                  <a:srgbClr val="002060"/>
                </a:solidFill>
                <a:latin typeface="Verdana" panose="020B0804030504040204" pitchFamily="34" charset="0"/>
                <a:ea typeface="+mn-ea"/>
                <a:cs typeface="+mn-cs"/>
              </a:rPr>
              <a:t> </a:t>
            </a:r>
          </a:p>
        </p:txBody>
      </p:sp>
      <p:pic>
        <p:nvPicPr>
          <p:cNvPr id="8" name="Picture 1"/>
          <p:cNvPicPr>
            <a:picLocks noChangeAspect="1"/>
          </p:cNvPicPr>
          <p:nvPr/>
        </p:nvPicPr>
        <p:blipFill>
          <a:blip r:embed="rId4"/>
          <a:stretch>
            <a:fillRect/>
          </a:stretch>
        </p:blipFill>
        <p:spPr>
          <a:xfrm>
            <a:off x="151765" y="149225"/>
            <a:ext cx="2769235" cy="105410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latin typeface="Verdana" panose="020B0804030504040204" pitchFamily="34" charset="0"/>
                <a:cs typeface="Verdana" panose="020B0804030504040204" pitchFamily="34" charset="0"/>
              </a:rPr>
              <a:t>PROBLEM STATEMENT</a:t>
            </a:r>
          </a:p>
        </p:txBody>
      </p:sp>
      <p:sp>
        <p:nvSpPr>
          <p:cNvPr id="3" name="Content Placeholder 2"/>
          <p:cNvSpPr>
            <a:spLocks noGrp="1"/>
          </p:cNvSpPr>
          <p:nvPr>
            <p:ph idx="1"/>
          </p:nvPr>
        </p:nvSpPr>
        <p:spPr>
          <a:xfrm>
            <a:off x="766446" y="1295400"/>
            <a:ext cx="10668000" cy="4267200"/>
          </a:xfrm>
        </p:spPr>
        <p:txBody>
          <a:bodyPr/>
          <a:lstStyle/>
          <a:p>
            <a:pPr marL="469900" marR="0" lvl="0" indent="-46990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Elderly individuals with visual impairments face significant challenges when navigating indoor environments, where obstacles, stairs, doorways, and unfamiliar layouts can pose serious safety risks. Traditional mobility aids such as white canes and guide dogs provide only limited situational awareness and cannot detect or interpret the environment in real time. Existing smart assistive technologies often depend on cloud connectivity, are expensive, or lack the capability to operate reliably indoors. Therefore, there is a need for an affordable, wearable, and offline AI-based system that can deliver real-time obstacle detection, environmental understanding, and intuitive guidance to support safe and independent indoor navigation for visually impaired elderly users.</a:t>
            </a:r>
          </a:p>
          <a:p>
            <a:pPr marL="0" marR="0" lvl="0" indent="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endParaRPr lang="en-IN"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2</a:t>
            </a:fld>
            <a:endParaRPr lang="en-IN"/>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solidFill>
                  <a:srgbClr val="FF0000"/>
                </a:solidFill>
                <a:latin typeface="Verdana" panose="020B0804030504040204" pitchFamily="34" charset="0"/>
                <a:cs typeface="Verdana" panose="020B0804030504040204" pitchFamily="34" charset="0"/>
              </a:rPr>
              <a:t>MOTIVATION</a:t>
            </a:r>
          </a:p>
        </p:txBody>
      </p:sp>
      <p:sp>
        <p:nvSpPr>
          <p:cNvPr id="3" name="Content Placeholder 2"/>
          <p:cNvSpPr>
            <a:spLocks noGrp="1"/>
          </p:cNvSpPr>
          <p:nvPr>
            <p:ph idx="1"/>
          </p:nvPr>
        </p:nvSpPr>
        <p:spPr>
          <a:xfrm>
            <a:off x="755650" y="1752600"/>
            <a:ext cx="10668000" cy="4267200"/>
          </a:xfrm>
        </p:spPr>
        <p:txBody>
          <a:bodyPr/>
          <a:lstStyle/>
          <a:p>
            <a:pPr marL="0" marR="0" lvl="0" indent="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lang="en-US" alt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The motivation behind Kanmani AI arises from the growing need to enhance the independence, safety, and quality of life of visually impaired elderly individuals. Many rely heavily on caregivers or limited traditional tools, leading to reduced mobility, fear of injury, and loss of confidence in daily activities. With advancements in computer vision, AI, and wearable technology, there is a clear opportunity to develop an intelligent assistive system that goes beyond conventional aids and provides a richer understanding of the user’s surroundings. Kanmani AI aims to harness stereo vision, offline deep learning models, and non-intrusive audio feedback to create an affordable, privacy-preserving, and user-friendly solution that empowers elderly individuals to navigate their indoor environments with greater autonomy and confidence.</a:t>
            </a:r>
            <a:endParaRPr kumimoji="0" lang="en-IN"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EXISTING SYSTEM</a:t>
            </a:r>
          </a:p>
        </p:txBody>
      </p:sp>
      <p:sp>
        <p:nvSpPr>
          <p:cNvPr id="3" name="Content Placeholder 2"/>
          <p:cNvSpPr>
            <a:spLocks noGrp="1"/>
          </p:cNvSpPr>
          <p:nvPr>
            <p:ph idx="1"/>
          </p:nvPr>
        </p:nvSpPr>
        <p:spPr/>
        <p:txBody>
          <a:bodyPr/>
          <a:lstStyle/>
          <a:p>
            <a:pPr marL="0" marR="0" lvl="0" indent="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The existing systems for assisting visually impaired individuals primarily include white canes, guide dogs, and GPS-based navigation tools.These tools provide basic mobility support but have several limitations in indoor environments.White canes can only detect nearby physical obstacles and do not identify object type or distance.Guide dogs require high maintenance and cannot provide detailed contextual information.GPS-based systems work effectively outdoors but fail indoors due to weak signals and </a:t>
            </a:r>
            <a:r>
              <a:rPr lang="en-US" alt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occlusions.</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lang="en-US" alt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Some robotic or sensor-based aids exist, but they are often expensive and bulky. Most current solutions lack real-time object recognition and audio-based situational feedback.Additionally, they depend heavily on user experience and offer limited automation.</a:t>
            </a: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br>
              <a:rPr kumimoji="0" lang="en-IN"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812800" y="6245225"/>
            <a:ext cx="2641600" cy="476250"/>
          </a:xfrm>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4</a:t>
            </a:fld>
            <a:endParaRPr lang="en-IN"/>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OBJECTIVES</a:t>
            </a:r>
          </a:p>
        </p:txBody>
      </p:sp>
      <p:sp>
        <p:nvSpPr>
          <p:cNvPr id="3" name="Content Placeholder 2"/>
          <p:cNvSpPr>
            <a:spLocks noGrp="1"/>
          </p:cNvSpPr>
          <p:nvPr>
            <p:ph idx="1"/>
          </p:nvPr>
        </p:nvSpPr>
        <p:spPr>
          <a:xfrm>
            <a:off x="766445" y="1749425"/>
            <a:ext cx="10667788" cy="4267200"/>
          </a:xfrm>
        </p:spPr>
        <p:txBody>
          <a:bodyPr/>
          <a:lstStyle/>
          <a:p>
            <a:pPr marL="469900" marR="0" lvl="0" indent="-46990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Develop a stereo vision–based wearable system capable of real-time offline detection and recognition of indoor obstacles, stairs, doors, and labeled objects using lightweight AI models running on a smartphone.</a:t>
            </a:r>
          </a:p>
          <a:p>
            <a:pPr marL="469900" marR="0" lvl="0" indent="-46990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Enhance contextual awareness by integrating OCR and object recognition to identify room names, labels, and familiar individuals, ensuring accurate and reliable environmental understanding.</a:t>
            </a:r>
          </a:p>
          <a:p>
            <a:pPr marL="469900" marR="0" lvl="0" indent="-469900" algn="just"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Provide intuitive and safe user interaction through a low-cost, modular wearable design with bone conduction audio guidance, supporting future extensions such as fall detection and health monitoring.</a:t>
            </a:r>
          </a:p>
        </p:txBody>
      </p:sp>
      <p:sp>
        <p:nvSpPr>
          <p:cNvPr id="4" name="Date Placeholder 3"/>
          <p:cNvSpPr>
            <a:spLocks noGrp="1"/>
          </p:cNvSpPr>
          <p:nvPr>
            <p:ph type="dt" sz="half" idx="10"/>
          </p:nvPr>
        </p:nvSpPr>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5</a:t>
            </a:fld>
            <a:endParaRPr lang="en-IN"/>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1200" y="0"/>
            <a:ext cx="10668000" cy="1597025"/>
          </a:xfrm>
        </p:spPr>
        <p:txBody>
          <a:bodyPr/>
          <a:lstStyle/>
          <a:p>
            <a:r>
              <a:rPr lang="en-US" altLang="en-IN" sz="3200" b="1" dirty="0">
                <a:solidFill>
                  <a:srgbClr val="FF0000"/>
                </a:solidFill>
              </a:rPr>
              <a:t>ABSTRACT</a:t>
            </a:r>
          </a:p>
        </p:txBody>
      </p:sp>
      <p:sp>
        <p:nvSpPr>
          <p:cNvPr id="3" name="Content Placeholder 2"/>
          <p:cNvSpPr>
            <a:spLocks noGrp="1"/>
          </p:cNvSpPr>
          <p:nvPr>
            <p:ph idx="1"/>
          </p:nvPr>
        </p:nvSpPr>
        <p:spPr>
          <a:xfrm>
            <a:off x="711200" y="1681001"/>
            <a:ext cx="10668000" cy="4267200"/>
          </a:xfrm>
        </p:spPr>
        <p:txBody>
          <a:bodyPr/>
          <a:lstStyle/>
          <a:p>
            <a:pPr marL="0" indent="0" algn="just">
              <a:buNone/>
            </a:pPr>
            <a:r>
              <a:rPr lang="en-US" altLang="en-US" sz="2000" dirty="0">
                <a:latin typeface="Times New Roman" panose="02020603050405020304" pitchFamily="18" charset="0"/>
                <a:cs typeface="Times New Roman" panose="02020603050405020304" pitchFamily="18" charset="0"/>
              </a:rPr>
              <a:t>Kanmani AI is a wearable assistive system designed to support safe and independent indoor navigation for visually impaired elderly individuals.Traditional aids like canes and guide dogs offer limited awareness, whereas Kanmani AI provides real-time environmental understanding.It uses stereo cameras on a lightweight wearable frame connected to a smartphone for offline AI processing.The system detects obstacles, identifies stairs and doors, recognizes people and rooms, and reads text labels through OCR.Voice guidance is delivered via bone conduction earphones for a hands-free, non-intrusive experience.Testing in simulated indoor environments showed accurate detection and clear navigation instructions.Users were able to navigate safely with minimal training.With its low-cost, modular design and future expandability, Kanmani AI enhances safety, confidence, and independence.</a:t>
            </a:r>
          </a:p>
        </p:txBody>
      </p:sp>
      <p:sp>
        <p:nvSpPr>
          <p:cNvPr id="4" name="Date Placeholder 3"/>
          <p:cNvSpPr>
            <a:spLocks noGrp="1"/>
          </p:cNvSpPr>
          <p:nvPr>
            <p:ph type="dt" sz="half" idx="10"/>
          </p:nvPr>
        </p:nvSpPr>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6</a:t>
            </a:fld>
            <a:endParaRPr lang="en-IN"/>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rPr>
              <a:t>ARCHITECTURE</a:t>
            </a: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None/>
              <a:defRPr/>
            </a:pPr>
            <a:br>
              <a:rPr kumimoji="0" lang="en-IN" altLang="en-US" sz="2800" b="0" i="0" u="none" strike="noStrike" kern="0" cap="none" spc="0" normalizeH="0" baseline="0" noProof="0" dirty="0">
                <a:ln>
                  <a:noFill/>
                </a:ln>
                <a:solidFill>
                  <a:srgbClr val="000000"/>
                </a:solidFill>
                <a:effectLst/>
                <a:uLnTx/>
                <a:uFillTx/>
                <a:latin typeface="Verdana" panose="020B08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8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7</a:t>
            </a:fld>
            <a:endParaRPr lang="en-IN"/>
          </a:p>
        </p:txBody>
      </p:sp>
      <p:pic>
        <p:nvPicPr>
          <p:cNvPr id="15" name="Image 15"/>
          <p:cNvPicPr/>
          <p:nvPr/>
        </p:nvPicPr>
        <p:blipFill>
          <a:blip r:embed="rId4" cstate="print"/>
          <a:stretch>
            <a:fillRect/>
          </a:stretch>
        </p:blipFill>
        <p:spPr>
          <a:xfrm>
            <a:off x="1645920" y="1691641"/>
            <a:ext cx="8737600" cy="426720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b="1" dirty="0">
                <a:solidFill>
                  <a:srgbClr val="FF0000"/>
                </a:solidFill>
              </a:rPr>
              <a:t>STEREO VISION CAMERA </a:t>
            </a:r>
            <a:r>
              <a:rPr lang="en-US" altLang="en-IN" sz="3200" b="1" dirty="0">
                <a:solidFill>
                  <a:srgbClr val="FF0000"/>
                </a:solidFill>
              </a:rPr>
              <a:t>MODULE</a:t>
            </a:r>
          </a:p>
        </p:txBody>
      </p:sp>
      <p:sp>
        <p:nvSpPr>
          <p:cNvPr id="3" name="Content Placeholder 2"/>
          <p:cNvSpPr>
            <a:spLocks noGrp="1"/>
          </p:cNvSpPr>
          <p:nvPr>
            <p:ph idx="1"/>
          </p:nvPr>
        </p:nvSpPr>
        <p:spPr>
          <a:xfrm>
            <a:off x="494030" y="1692275"/>
            <a:ext cx="7981950" cy="4415790"/>
          </a:xfrm>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Model:</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OAK-D Lite / ZED Mini</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Purpose:</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Captures high-resolution stereo images and calculates depth information for obstacle detection, stairs, doors, and indoor objects.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Functionality:</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Computes disparity between left and right images to estimate distances accurately and generate real-time depth maps.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Reason for Selection:</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Lightweight, compact, capable of real-time depth sensing, and ideal for wearable applications.</a:t>
            </a:r>
            <a:br>
              <a:rPr kumimoji="0" lang="en-IN"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8</a:t>
            </a:fld>
            <a:endParaRPr lang="en-IN"/>
          </a:p>
        </p:txBody>
      </p:sp>
      <p:pic>
        <p:nvPicPr>
          <p:cNvPr id="16" name="Image 16"/>
          <p:cNvPicPr>
            <a:picLocks noChangeAspect="1"/>
          </p:cNvPicPr>
          <p:nvPr/>
        </p:nvPicPr>
        <p:blipFill>
          <a:blip r:embed="rId4" cstate="print"/>
          <a:stretch>
            <a:fillRect/>
          </a:stretch>
        </p:blipFill>
        <p:spPr>
          <a:xfrm>
            <a:off x="8117633" y="2040256"/>
            <a:ext cx="3939747" cy="3007606"/>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b="1" dirty="0">
                <a:solidFill>
                  <a:srgbClr val="FF0000"/>
                </a:solidFill>
                <a:latin typeface="Verdana" panose="020B0804030504040204" pitchFamily="34" charset="0"/>
                <a:cs typeface="Verdana" panose="020B0804030504040204" pitchFamily="34" charset="0"/>
              </a:rPr>
              <a:t>EMBEDDED PROCESSING UNIT</a:t>
            </a:r>
          </a:p>
        </p:txBody>
      </p:sp>
      <p:sp>
        <p:nvSpPr>
          <p:cNvPr id="3" name="Content Placeholder 2"/>
          <p:cNvSpPr>
            <a:spLocks noGrp="1"/>
          </p:cNvSpPr>
          <p:nvPr>
            <p:ph idx="1"/>
          </p:nvPr>
        </p:nvSpPr>
        <p:spPr>
          <a:xfrm>
            <a:off x="410845" y="1633855"/>
            <a:ext cx="8500745" cy="4267200"/>
          </a:xfrm>
        </p:spPr>
        <p:txBody>
          <a:bodyPr/>
          <a:lstStyle/>
          <a:p>
            <a:r>
              <a:rPr lang="en-US" altLang="en-US" sz="2000" b="1" dirty="0">
                <a:latin typeface="Times New Roman" panose="02020603050405020304" pitchFamily="18" charset="0"/>
                <a:cs typeface="Times New Roman" panose="02020603050405020304" pitchFamily="18" charset="0"/>
              </a:rPr>
              <a:t>Components:</a:t>
            </a:r>
            <a:r>
              <a:rPr lang="en-US" altLang="en-US" sz="2000" dirty="0">
                <a:latin typeface="Times New Roman" panose="02020603050405020304" pitchFamily="18" charset="0"/>
                <a:cs typeface="Times New Roman" panose="02020603050405020304" pitchFamily="18" charset="0"/>
              </a:rPr>
              <a:t> Raspberry Pi 4 / Jetson Nano / Android smartphone</a:t>
            </a:r>
          </a:p>
          <a:p>
            <a:r>
              <a:rPr lang="en-US" altLang="en-US" sz="2000" b="1" dirty="0">
                <a:latin typeface="Times New Roman" panose="02020603050405020304" pitchFamily="18" charset="0"/>
                <a:cs typeface="Times New Roman" panose="02020603050405020304" pitchFamily="18" charset="0"/>
              </a:rPr>
              <a:t>Purpose:</a:t>
            </a:r>
            <a:r>
              <a:rPr lang="en-US" altLang="en-US" sz="2000" dirty="0">
                <a:latin typeface="Times New Roman" panose="02020603050405020304" pitchFamily="18" charset="0"/>
                <a:cs typeface="Times New Roman" panose="02020603050405020304" pitchFamily="18" charset="0"/>
              </a:rPr>
              <a:t> Performs offline AI inference, running deep learning models (YOLOv5 / YOLOv3-tiny) for object detection, OCR, and depth estimation.</a:t>
            </a:r>
          </a:p>
          <a:p>
            <a:r>
              <a:rPr lang="en-US" altLang="en-US" sz="2000" b="1" dirty="0">
                <a:latin typeface="Times New Roman" panose="02020603050405020304" pitchFamily="18" charset="0"/>
                <a:cs typeface="Times New Roman" panose="02020603050405020304" pitchFamily="18" charset="0"/>
              </a:rPr>
              <a:t>Functionality:</a:t>
            </a:r>
            <a:r>
              <a:rPr lang="en-US" altLang="en-US" sz="2000" dirty="0">
                <a:latin typeface="Times New Roman" panose="02020603050405020304" pitchFamily="18" charset="0"/>
                <a:cs typeface="Times New Roman" panose="02020603050405020304" pitchFamily="18" charset="0"/>
              </a:rPr>
              <a:t> Handles data flow from cameras and optional sensors, executes AI models efficiently, and sends processed instructions to audio output.</a:t>
            </a:r>
          </a:p>
          <a:p>
            <a:r>
              <a:rPr lang="en-US" altLang="en-US" sz="2000" b="1" dirty="0">
                <a:latin typeface="Times New Roman" panose="02020603050405020304" pitchFamily="18" charset="0"/>
                <a:cs typeface="Times New Roman" panose="02020603050405020304" pitchFamily="18" charset="0"/>
                <a:sym typeface="+mn-ea"/>
              </a:rPr>
              <a:t>Reason for Selection:</a:t>
            </a:r>
            <a:r>
              <a:rPr lang="en-US" altLang="en-US" sz="2000" dirty="0">
                <a:latin typeface="Times New Roman" panose="02020603050405020304" pitchFamily="18" charset="0"/>
                <a:cs typeface="Times New Roman" panose="02020603050405020304" pitchFamily="18" charset="0"/>
                <a:sym typeface="+mn-ea"/>
              </a:rPr>
              <a:t> Portable, supports offline AI, energy- efficient, and capable of real-time processing.</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9</a:t>
            </a:fld>
            <a:endParaRPr lang="en-US" altLang="en-US"/>
          </a:p>
        </p:txBody>
      </p:sp>
      <p:pic>
        <p:nvPicPr>
          <p:cNvPr id="17" name="Image 17" descr="Raspberry Pi – Wikipedia"/>
          <p:cNvPicPr/>
          <p:nvPr/>
        </p:nvPicPr>
        <p:blipFill>
          <a:blip r:embed="rId2" cstate="print"/>
          <a:stretch>
            <a:fillRect/>
          </a:stretch>
        </p:blipFill>
        <p:spPr>
          <a:xfrm>
            <a:off x="8642350" y="2460625"/>
            <a:ext cx="3352800" cy="26136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b="1">
                <a:solidFill>
                  <a:srgbClr val="FF0000"/>
                </a:solidFill>
                <a:latin typeface="Verdana" panose="020B0804030504040204" pitchFamily="34" charset="0"/>
                <a:cs typeface="Verdana" panose="020B0804030504040204" pitchFamily="34" charset="0"/>
              </a:rPr>
              <a:t>BONE CONDUCTION EARPHONE </a:t>
            </a:r>
            <a:r>
              <a:rPr lang="en-US" altLang="en-IN" sz="3200" b="1" dirty="0">
                <a:solidFill>
                  <a:srgbClr val="FF0000"/>
                </a:solidFill>
                <a:sym typeface="+mn-ea"/>
              </a:rPr>
              <a:t>MODULE</a:t>
            </a:r>
            <a:endParaRPr lang="en-US" altLang="en-US" sz="3200" b="1">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a:xfrm>
            <a:off x="755650" y="1752600"/>
            <a:ext cx="6717030" cy="4267200"/>
          </a:xfrm>
        </p:spPr>
        <p:txBody>
          <a:bodyPr/>
          <a:lstStyle/>
          <a:p>
            <a:r>
              <a:rPr lang="en-US" altLang="en-US" sz="2000" b="1" dirty="0">
                <a:latin typeface="Times New Roman" panose="02020603050405020304" pitchFamily="18" charset="0"/>
                <a:cs typeface="Times New Roman" panose="02020603050405020304" pitchFamily="18" charset="0"/>
              </a:rPr>
              <a:t>Components:</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Aftershokz</a:t>
            </a:r>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Purpose:</a:t>
            </a:r>
            <a:r>
              <a:rPr lang="en-US" altLang="en-US" sz="2000" dirty="0">
                <a:latin typeface="Times New Roman" panose="02020603050405020304" pitchFamily="18" charset="0"/>
                <a:cs typeface="Times New Roman" panose="02020603050405020304" pitchFamily="18" charset="0"/>
              </a:rPr>
              <a:t> Provides hands-free audio instructions without blocking ambient environmental sounds.</a:t>
            </a:r>
          </a:p>
          <a:p>
            <a:r>
              <a:rPr lang="en-US" altLang="en-US" sz="2000" b="1" dirty="0">
                <a:latin typeface="Times New Roman" panose="02020603050405020304" pitchFamily="18" charset="0"/>
                <a:cs typeface="Times New Roman" panose="02020603050405020304" pitchFamily="18" charset="0"/>
              </a:rPr>
              <a:t>Functionality:</a:t>
            </a:r>
            <a:r>
              <a:rPr lang="en-US" altLang="en-US" sz="2000" dirty="0">
                <a:latin typeface="Times New Roman" panose="02020603050405020304" pitchFamily="18" charset="0"/>
                <a:cs typeface="Times New Roman" panose="02020603050405020304" pitchFamily="18" charset="0"/>
              </a:rPr>
              <a:t> Receives TTS output from the processing unit and conveys guidance to the user in real-time.</a:t>
            </a:r>
          </a:p>
          <a:p>
            <a:r>
              <a:rPr lang="en-US" altLang="en-US" sz="2000" b="1" dirty="0">
                <a:latin typeface="Times New Roman" panose="02020603050405020304" pitchFamily="18" charset="0"/>
                <a:cs typeface="Times New Roman" panose="02020603050405020304" pitchFamily="18" charset="0"/>
              </a:rPr>
              <a:t>Reason for Selection:</a:t>
            </a:r>
            <a:r>
              <a:rPr lang="en-US" altLang="en-US" sz="2000" dirty="0">
                <a:latin typeface="Times New Roman" panose="02020603050405020304" pitchFamily="18" charset="0"/>
                <a:cs typeface="Times New Roman" panose="02020603050405020304" pitchFamily="18" charset="0"/>
              </a:rPr>
              <a:t> Non-intrusive, suitable for elderly users, and allows simultaneous perception of environmental cues.</a:t>
            </a:r>
          </a:p>
        </p:txBody>
      </p:sp>
      <p:sp>
        <p:nvSpPr>
          <p:cNvPr id="4" name="Date Placeholder 3"/>
          <p:cNvSpPr>
            <a:spLocks noGrp="1"/>
          </p:cNvSpPr>
          <p:nvPr>
            <p:ph type="dt" sz="half" idx="10"/>
          </p:nvPr>
        </p:nvSpPr>
        <p:spPr/>
        <p:txBody>
          <a:bodyPr/>
          <a:lstStyle/>
          <a:p>
            <a:r>
              <a:rPr lang="en-US" altLang="en-IN" dirty="0"/>
              <a:t>Phase – I Final Review</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10</a:t>
            </a:fld>
            <a:endParaRPr lang="en-US" altLang="en-US"/>
          </a:p>
        </p:txBody>
      </p:sp>
      <p:pic>
        <p:nvPicPr>
          <p:cNvPr id="18" name="Image 18" descr="Best bone conduction headphones in 2025 | Tom's Guide"/>
          <p:cNvPicPr>
            <a:picLocks noChangeAspect="1"/>
          </p:cNvPicPr>
          <p:nvPr/>
        </p:nvPicPr>
        <p:blipFill>
          <a:blip r:embed="rId2" cstate="print"/>
          <a:stretch>
            <a:fillRect/>
          </a:stretch>
        </p:blipFill>
        <p:spPr>
          <a:xfrm>
            <a:off x="7234555" y="1868805"/>
            <a:ext cx="4685030" cy="402780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b="1" dirty="0">
                <a:solidFill>
                  <a:srgbClr val="FF0000"/>
                </a:solidFill>
                <a:latin typeface="Verdana" panose="020B0804030504040204" pitchFamily="34" charset="0"/>
                <a:cs typeface="Verdana" panose="020B0804030504040204" pitchFamily="34" charset="0"/>
              </a:rPr>
              <a:t>WEARABLE FRAME / 3D PRINTING DESIGN </a:t>
            </a:r>
            <a:r>
              <a:rPr lang="en-US" altLang="en-IN" sz="3200" b="1" dirty="0">
                <a:solidFill>
                  <a:srgbClr val="FF0000"/>
                </a:solidFill>
                <a:sym typeface="+mn-ea"/>
              </a:rPr>
              <a:t>MODULE</a:t>
            </a:r>
            <a:endParaRPr lang="en-US" altLang="en-US" sz="3200" b="1" dirty="0">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p:txBody>
          <a:bodyPr/>
          <a:lstStyle/>
          <a:p>
            <a:pPr algn="just"/>
            <a:r>
              <a:rPr lang="en-US" altLang="en-US" sz="2000" b="1" dirty="0">
                <a:latin typeface="Times New Roman" panose="02020603050405020304" pitchFamily="18" charset="0"/>
                <a:cs typeface="Times New Roman" panose="02020603050405020304" pitchFamily="18" charset="0"/>
              </a:rPr>
              <a:t>Material:</a:t>
            </a:r>
            <a:r>
              <a:rPr lang="en-US" altLang="en-US" sz="2000" dirty="0">
                <a:latin typeface="Times New Roman" panose="02020603050405020304" pitchFamily="18" charset="0"/>
                <a:cs typeface="Times New Roman" panose="02020603050405020304" pitchFamily="18" charset="0"/>
              </a:rPr>
              <a:t> PLA / ABS(</a:t>
            </a:r>
            <a:r>
              <a:rPr lang="en-IN" sz="2000" dirty="0">
                <a:latin typeface="Times New Roman" panose="02020603050405020304" pitchFamily="18" charset="0"/>
                <a:cs typeface="Times New Roman" panose="02020603050405020304" pitchFamily="18" charset="0"/>
                <a:hlinkClick r:id="rId2"/>
              </a:rPr>
              <a:t>Acrylonitrile Butadiene Styrene</a:t>
            </a:r>
            <a:r>
              <a:rPr lang="en-IN"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lightweight plastic</a:t>
            </a:r>
          </a:p>
          <a:p>
            <a:pPr algn="just"/>
            <a:r>
              <a:rPr lang="en-US" altLang="en-US" sz="2000" b="1" dirty="0">
                <a:latin typeface="Times New Roman" panose="02020603050405020304" pitchFamily="18" charset="0"/>
                <a:cs typeface="Times New Roman" panose="02020603050405020304" pitchFamily="18" charset="0"/>
              </a:rPr>
              <a:t>Purpose:</a:t>
            </a:r>
            <a:r>
              <a:rPr lang="en-US" altLang="en-US" sz="2000" dirty="0">
                <a:latin typeface="Times New Roman" panose="02020603050405020304" pitchFamily="18" charset="0"/>
                <a:cs typeface="Times New Roman" panose="02020603050405020304" pitchFamily="18" charset="0"/>
              </a:rPr>
              <a:t> Holds cameras and sensors ergonomically on the head, providing a stable and comfortable mounting platform.</a:t>
            </a:r>
          </a:p>
          <a:p>
            <a:pPr algn="just"/>
            <a:r>
              <a:rPr lang="en-US" altLang="en-US" sz="2000" b="1" dirty="0">
                <a:latin typeface="Times New Roman" panose="02020603050405020304" pitchFamily="18" charset="0"/>
                <a:cs typeface="Times New Roman" panose="02020603050405020304" pitchFamily="18" charset="0"/>
              </a:rPr>
              <a:t>Functionality:</a:t>
            </a:r>
            <a:r>
              <a:rPr lang="en-US" altLang="en-US" sz="2000" dirty="0">
                <a:latin typeface="Times New Roman" panose="02020603050405020304" pitchFamily="18" charset="0"/>
                <a:cs typeface="Times New Roman" panose="02020603050405020304" pitchFamily="18" charset="0"/>
              </a:rPr>
              <a:t> Adjustable frame design ensures optimal camera placement, user comfort, and the ability to accommodate future sensors or battery upgrades.</a:t>
            </a:r>
          </a:p>
          <a:p>
            <a:pPr algn="just"/>
            <a:r>
              <a:rPr lang="en-US" altLang="en-US" sz="2000" b="1" dirty="0">
                <a:latin typeface="Times New Roman" panose="02020603050405020304" pitchFamily="18" charset="0"/>
                <a:cs typeface="Times New Roman" panose="02020603050405020304" pitchFamily="18" charset="0"/>
                <a:sym typeface="+mn-ea"/>
              </a:rPr>
              <a:t>Reason for Selection:</a:t>
            </a:r>
            <a:r>
              <a:rPr lang="en-US" altLang="en-US" sz="2000" dirty="0">
                <a:latin typeface="Times New Roman" panose="02020603050405020304" pitchFamily="18" charset="0"/>
                <a:cs typeface="Times New Roman" panose="02020603050405020304" pitchFamily="18" charset="0"/>
                <a:sym typeface="+mn-ea"/>
              </a:rPr>
              <a:t> Lightweight, durable, customizable, and compatible with 3D printing techniques</a:t>
            </a:r>
            <a:endParaRPr lang="en-US" sz="2000" dirty="0">
              <a:latin typeface="Times New Roman" panose="02020603050405020304" pitchFamily="18" charset="0"/>
              <a:cs typeface="Times New Roman" panose="02020603050405020304" pitchFamily="18" charset="0"/>
            </a:endParaRPr>
          </a:p>
          <a:p>
            <a:pPr algn="just"/>
            <a:endParaRPr lang="en-US" altLang="en-US" sz="2000" dirty="0">
              <a:latin typeface="Times New Roman" panose="02020603050405020304" pitchFamily="18" charset="0"/>
              <a:cs typeface="Times New Roman" panose="02020603050405020304" pitchFamily="18" charset="0"/>
            </a:endParaRPr>
          </a:p>
          <a:p>
            <a:pPr marL="0" indent="0" algn="just">
              <a:buNone/>
            </a:pPr>
            <a:endParaRPr lang="en-US" altLang="en-US" sz="20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11</a:t>
            </a:fld>
            <a:endParaRPr lang="en-US" altLang="en-US"/>
          </a:p>
        </p:txBody>
      </p:sp>
      <p:pic>
        <p:nvPicPr>
          <p:cNvPr id="7" name="Picture 6">
            <a:extLst>
              <a:ext uri="{FF2B5EF4-FFF2-40B4-BE49-F238E27FC236}">
                <a16:creationId xmlns:a16="http://schemas.microsoft.com/office/drawing/2014/main" id="{16C7E833-76FE-5DC7-4AE8-9FA450FCEF1A}"/>
              </a:ext>
            </a:extLst>
          </p:cNvPr>
          <p:cNvPicPr>
            <a:picLocks noChangeAspect="1"/>
          </p:cNvPicPr>
          <p:nvPr/>
        </p:nvPicPr>
        <p:blipFill>
          <a:blip r:embed="rId3"/>
          <a:stretch>
            <a:fillRect/>
          </a:stretch>
        </p:blipFill>
        <p:spPr>
          <a:xfrm>
            <a:off x="6917493" y="3886200"/>
            <a:ext cx="4001397" cy="1965475"/>
          </a:xfrm>
          <a:prstGeom prst="rect">
            <a:avLst/>
          </a:prstGeom>
        </p:spPr>
      </p:pic>
      <p:sp>
        <p:nvSpPr>
          <p:cNvPr id="8" name="Date Placeholder 3">
            <a:extLst>
              <a:ext uri="{FF2B5EF4-FFF2-40B4-BE49-F238E27FC236}">
                <a16:creationId xmlns:a16="http://schemas.microsoft.com/office/drawing/2014/main" id="{8BBEFEB3-9897-4504-44FF-3C37389223DA}"/>
              </a:ext>
            </a:extLst>
          </p:cNvPr>
          <p:cNvSpPr>
            <a:spLocks noGrp="1"/>
          </p:cNvSpPr>
          <p:nvPr>
            <p:ph type="dt" sz="half" idx="10"/>
          </p:nvPr>
        </p:nvSpPr>
        <p:spPr>
          <a:xfrm>
            <a:off x="812800" y="6245225"/>
            <a:ext cx="2641600" cy="476250"/>
          </a:xfrm>
        </p:spPr>
        <p:txBody>
          <a:bodyPr/>
          <a:lstStyle/>
          <a:p>
            <a:r>
              <a:rPr lang="en-US" altLang="en-IN" dirty="0"/>
              <a:t>Phase – I Final Review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a:solidFill>
                  <a:srgbClr val="FF0000"/>
                </a:solidFill>
                <a:latin typeface="Verdana" panose="020B0804030504040204" pitchFamily="34" charset="0"/>
                <a:cs typeface="Verdana" panose="020B0804030504040204" pitchFamily="34" charset="0"/>
              </a:rPr>
              <a:t>POWER SUPPLY </a:t>
            </a:r>
            <a:r>
              <a:rPr lang="en-US" altLang="en-IN" b="1" dirty="0">
                <a:solidFill>
                  <a:srgbClr val="FF0000"/>
                </a:solidFill>
                <a:sym typeface="+mn-ea"/>
              </a:rPr>
              <a:t>MODULE</a:t>
            </a:r>
            <a:endParaRPr lang="en-US" altLang="en-US" b="1">
              <a:solidFill>
                <a:srgbClr val="FF0000"/>
              </a:solidFill>
              <a:latin typeface="Verdana" panose="020B0804030504040204" pitchFamily="34" charset="0"/>
              <a:cs typeface="Verdana" panose="020B0804030504040204" pitchFamily="34" charset="0"/>
            </a:endParaRPr>
          </a:p>
        </p:txBody>
      </p:sp>
      <p:sp>
        <p:nvSpPr>
          <p:cNvPr id="3" name="Content Placeholder 2"/>
          <p:cNvSpPr>
            <a:spLocks noGrp="1"/>
          </p:cNvSpPr>
          <p:nvPr>
            <p:ph idx="1"/>
          </p:nvPr>
        </p:nvSpPr>
        <p:spPr/>
        <p:txBody>
          <a:bodyPr/>
          <a:lstStyle/>
          <a:p>
            <a:r>
              <a:rPr lang="en-US" altLang="en-US" sz="2000" b="1" dirty="0">
                <a:latin typeface="Times New Roman" panose="02020603050405020304" pitchFamily="18" charset="0"/>
                <a:cs typeface="Times New Roman" panose="02020603050405020304" pitchFamily="18" charset="0"/>
              </a:rPr>
              <a:t>Type:</a:t>
            </a:r>
            <a:r>
              <a:rPr lang="en-US" altLang="en-US" sz="2000" dirty="0">
                <a:latin typeface="Times New Roman" panose="02020603050405020304" pitchFamily="18" charset="0"/>
                <a:cs typeface="Times New Roman" panose="02020603050405020304" pitchFamily="18" charset="0"/>
              </a:rPr>
              <a:t> Li-ion battery, 5000–10000 </a:t>
            </a:r>
            <a:r>
              <a:rPr lang="en-US" altLang="en-US" sz="2000" dirty="0" err="1">
                <a:latin typeface="Times New Roman" panose="02020603050405020304" pitchFamily="18" charset="0"/>
                <a:cs typeface="Times New Roman" panose="02020603050405020304" pitchFamily="18" charset="0"/>
              </a:rPr>
              <a:t>mAh</a:t>
            </a:r>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Purpose:</a:t>
            </a:r>
            <a:r>
              <a:rPr lang="en-US" altLang="en-US" sz="2000" dirty="0">
                <a:latin typeface="Times New Roman" panose="02020603050405020304" pitchFamily="18" charset="0"/>
                <a:cs typeface="Times New Roman" panose="02020603050405020304" pitchFamily="18" charset="0"/>
              </a:rPr>
              <a:t> Powers the stereo camera, embedded processor, and audio module for several hours of continuous operation.</a:t>
            </a:r>
          </a:p>
          <a:p>
            <a:r>
              <a:rPr lang="en-US" altLang="en-US" sz="2000" b="1" dirty="0">
                <a:latin typeface="Times New Roman" panose="02020603050405020304" pitchFamily="18" charset="0"/>
                <a:cs typeface="Times New Roman" panose="02020603050405020304" pitchFamily="18" charset="0"/>
              </a:rPr>
              <a:t>Functionality:</a:t>
            </a:r>
            <a:r>
              <a:rPr lang="en-US" altLang="en-US" sz="2000" dirty="0">
                <a:latin typeface="Times New Roman" panose="02020603050405020304" pitchFamily="18" charset="0"/>
                <a:cs typeface="Times New Roman" panose="02020603050405020304" pitchFamily="18" charset="0"/>
              </a:rPr>
              <a:t> Provides stable and reliable energy, minimizing the need for frequent recharging.</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12</a:t>
            </a:fld>
            <a:endParaRPr lang="en-US" altLang="en-US"/>
          </a:p>
        </p:txBody>
      </p:sp>
      <p:pic>
        <p:nvPicPr>
          <p:cNvPr id="19" name="Image 19" descr="Rechargeable Li-ion Battery"/>
          <p:cNvPicPr>
            <a:picLocks noChangeAspect="1"/>
          </p:cNvPicPr>
          <p:nvPr/>
        </p:nvPicPr>
        <p:blipFill>
          <a:blip r:embed="rId2" cstate="print"/>
          <a:stretch>
            <a:fillRect/>
          </a:stretch>
        </p:blipFill>
        <p:spPr>
          <a:xfrm>
            <a:off x="6882273" y="3522306"/>
            <a:ext cx="4307205" cy="2267585"/>
          </a:xfrm>
          <a:prstGeom prst="rect">
            <a:avLst/>
          </a:prstGeom>
          <a:noFill/>
          <a:ln>
            <a:noFill/>
          </a:ln>
        </p:spPr>
      </p:pic>
      <p:sp>
        <p:nvSpPr>
          <p:cNvPr id="4" name="Date Placeholder 3">
            <a:extLst>
              <a:ext uri="{FF2B5EF4-FFF2-40B4-BE49-F238E27FC236}">
                <a16:creationId xmlns:a16="http://schemas.microsoft.com/office/drawing/2014/main" id="{2B4B4A45-98B3-A9D8-089E-977EF2761C72}"/>
              </a:ext>
            </a:extLst>
          </p:cNvPr>
          <p:cNvSpPr>
            <a:spLocks noGrp="1"/>
          </p:cNvSpPr>
          <p:nvPr>
            <p:ph type="dt" sz="half" idx="10"/>
          </p:nvPr>
        </p:nvSpPr>
        <p:spPr>
          <a:xfrm>
            <a:off x="812800" y="6245225"/>
            <a:ext cx="2641600" cy="476250"/>
          </a:xfrm>
        </p:spPr>
        <p:txBody>
          <a:bodyPr/>
          <a:lstStyle/>
          <a:p>
            <a:r>
              <a:rPr lang="en-US" altLang="en-IN" dirty="0"/>
              <a:t>Phase – I Final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rgbClr val="FF0000"/>
                </a:solidFill>
                <a:latin typeface="Verdana" panose="020B0804030504040204" pitchFamily="34" charset="0"/>
                <a:cs typeface="Verdana" panose="020B0804030504040204" pitchFamily="34" charset="0"/>
              </a:rPr>
              <a:t>CONCLUSION</a:t>
            </a:r>
          </a:p>
        </p:txBody>
      </p:sp>
      <p:sp>
        <p:nvSpPr>
          <p:cNvPr id="3" name="Content Placeholder 2"/>
          <p:cNvSpPr>
            <a:spLocks noGrp="1"/>
          </p:cNvSpPr>
          <p:nvPr>
            <p:ph idx="1"/>
          </p:nvPr>
        </p:nvSpPr>
        <p:spPr/>
        <p:txBody>
          <a:bodyPr/>
          <a:lstStyle/>
          <a:p>
            <a:pPr marL="0" indent="0" algn="just">
              <a:buNone/>
            </a:pPr>
            <a:r>
              <a:rPr lang="en-US" altLang="en-US" sz="2000" dirty="0">
                <a:latin typeface="Times New Roman" panose="02020603050405020304" pitchFamily="18" charset="0"/>
                <a:cs typeface="Times New Roman" panose="02020603050405020304" pitchFamily="18" charset="0"/>
              </a:rPr>
              <a:t>Kanmani AI effectively addresses the limitations of traditional mobility aids by providing visually impaired elderly individuals with real-time, reliable indoor navigation support. By integrating stereo vision, offline AI processing, and bone conduction audio feedback into a compact wearable device, the system accurately detects obstacles, identifies stairs and doors, and reads text labels while maintaining user privacy and low latency. Testing in simulated environments confirmed its high accuracy and intuitive guidance, enabling safe movement with minimal training. With its low-cost hardware and efficient AI models, Kanmani AI offers a practical and accessible alternative to more complex systems, enhancing users’ confidence, safety, and independence in everyday indoor activities.</a:t>
            </a:r>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13</a:t>
            </a:fld>
            <a:endParaRPr lang="en-US" altLang="en-US"/>
          </a:p>
        </p:txBody>
      </p:sp>
      <p:sp>
        <p:nvSpPr>
          <p:cNvPr id="4" name="Date Placeholder 3">
            <a:extLst>
              <a:ext uri="{FF2B5EF4-FFF2-40B4-BE49-F238E27FC236}">
                <a16:creationId xmlns:a16="http://schemas.microsoft.com/office/drawing/2014/main" id="{9C336897-826F-807F-5C95-CB44F00E8A04}"/>
              </a:ext>
            </a:extLst>
          </p:cNvPr>
          <p:cNvSpPr>
            <a:spLocks noGrp="1"/>
          </p:cNvSpPr>
          <p:nvPr>
            <p:ph type="dt" sz="half" idx="10"/>
          </p:nvPr>
        </p:nvSpPr>
        <p:spPr>
          <a:xfrm>
            <a:off x="812800" y="6245225"/>
            <a:ext cx="2641600" cy="476250"/>
          </a:xfrm>
        </p:spPr>
        <p:txBody>
          <a:bodyPr/>
          <a:lstStyle/>
          <a:p>
            <a:r>
              <a:rPr lang="en-US" altLang="en-IN" dirty="0"/>
              <a:t>Phase – I Final Review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r>
              <a:rPr lang="en-US" dirty="0">
                <a:sym typeface="+mn-ea"/>
              </a:rPr>
              <a:t>Department of </a:t>
            </a:r>
            <a:r>
              <a:rPr lang="en-US" altLang="en-IN" dirty="0">
                <a:latin typeface="Verdana" panose="020B0804030504040204" pitchFamily="34" charset="0"/>
                <a:sym typeface="+mn-ea"/>
              </a:rPr>
              <a:t>Artificial Intelligence and Data Science</a:t>
            </a:r>
            <a:endParaRPr lang="en-IN"/>
          </a:p>
          <a:p>
            <a:endParaRPr lang="en-IN" dirty="0"/>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t>14</a:t>
            </a:fld>
            <a:endParaRPr lang="en-US" altLang="en-US" dirty="0"/>
          </a:p>
        </p:txBody>
      </p:sp>
      <p:sp>
        <p:nvSpPr>
          <p:cNvPr id="5" name="Date Placeholder 4"/>
          <p:cNvSpPr>
            <a:spLocks noGrp="1"/>
          </p:cNvSpPr>
          <p:nvPr>
            <p:ph type="dt" sz="half" idx="10"/>
          </p:nvPr>
        </p:nvSpPr>
        <p:spPr/>
        <p:txBody>
          <a:bodyPr/>
          <a:lstStyle/>
          <a:p>
            <a:r>
              <a:rPr lang="en-US" altLang="en-IN" dirty="0"/>
              <a:t>Phase – I Final Review</a:t>
            </a:r>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8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8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115</TotalTime>
  <Words>1301</Words>
  <Application>Microsoft Office PowerPoint</Application>
  <PresentationFormat>Widescreen</PresentationFormat>
  <Paragraphs>90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Times New Roman</vt:lpstr>
      <vt:lpstr>Verdana</vt:lpstr>
      <vt:lpstr>Wingdings</vt:lpstr>
      <vt:lpstr>Profile</vt:lpstr>
      <vt:lpstr>PowerPoint Presentation</vt:lpstr>
      <vt:lpstr>PROBLEM STATEMENT</vt:lpstr>
      <vt:lpstr>MOTIVATION</vt:lpstr>
      <vt:lpstr>EXISTING SYSTEM</vt:lpstr>
      <vt:lpstr>OBJECTIVES</vt:lpstr>
      <vt:lpstr>ABSTRACT</vt:lpstr>
      <vt:lpstr>ARCHITECTURE</vt:lpstr>
      <vt:lpstr>STEREO VISION CAMERA MODULE</vt:lpstr>
      <vt:lpstr>EMBEDDED PROCESSING UNIT</vt:lpstr>
      <vt:lpstr>BONE CONDUCTION EARPHONE MODULE</vt:lpstr>
      <vt:lpstr>WEARABLE FRAME / 3D PRINTING DESIGN MODULE</vt:lpstr>
      <vt:lpstr>POWER SUPPLY MODULE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Aravinth S</cp:lastModifiedBy>
  <cp:revision>12</cp:revision>
  <dcterms:created xsi:type="dcterms:W3CDTF">2025-11-24T14:59:23Z</dcterms:created>
  <dcterms:modified xsi:type="dcterms:W3CDTF">2025-11-26T15:50:56Z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1033-12.1.23152.23152</vt:lpwstr>
  </property>
  <property fmtid="{D5CDD505-2E9C-101B-9397-08002B2CF9AE}" pid="3" name="ICV">
    <vt:lpwstr>43AD35EFD1476283D86924691E510CC5_43</vt:lpwstr>
  </property>
</Properties>
</file>